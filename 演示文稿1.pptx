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02170" y="744855"/>
            <a:ext cx="415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光的折射定律（斯涅尔定律）</a:t>
            </a:r>
            <a:endParaRPr lang="zh-CN" altLang="en-US" sz="24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835" y="1283970"/>
            <a:ext cx="3161665" cy="5067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02170" y="2112645"/>
            <a:ext cx="4308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r>
              <a:rPr lang="en-US" altLang="zh-CN"/>
              <a:t> n</a:t>
            </a:r>
            <a:r>
              <a:rPr lang="zh-CN" altLang="en-US"/>
              <a:t>为介质折射率（空气</a:t>
            </a:r>
            <a:r>
              <a:rPr lang="en-US" altLang="zh-CN"/>
              <a:t>≈1</a:t>
            </a:r>
            <a:r>
              <a:rPr lang="zh-CN" altLang="en-US"/>
              <a:t>，水</a:t>
            </a:r>
            <a:r>
              <a:rPr lang="en-US" altLang="zh-CN"/>
              <a:t>≈1.33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202170" y="2600325"/>
            <a:ext cx="4258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当光从空气斜射入水中时，因水是</a:t>
            </a:r>
            <a:r>
              <a:rPr lang="en-US" altLang="zh-CN"/>
              <a:t>“</a:t>
            </a:r>
            <a:r>
              <a:rPr lang="zh-CN" altLang="en-US"/>
              <a:t>光密介质</a:t>
            </a:r>
            <a:r>
              <a:rPr lang="en-US" altLang="zh-CN"/>
              <a:t>”</a:t>
            </a:r>
            <a:r>
              <a:rPr lang="zh-CN" altLang="en-US"/>
              <a:t>，折射角</a:t>
            </a:r>
            <a:r>
              <a:rPr lang="en-US" altLang="zh-CN"/>
              <a:t> θ2 </a:t>
            </a:r>
            <a:r>
              <a:rPr lang="zh-CN" altLang="en-US"/>
              <a:t>小于入射角</a:t>
            </a:r>
            <a:r>
              <a:rPr lang="en-US" altLang="zh-CN"/>
              <a:t> θ1</a:t>
            </a:r>
            <a:r>
              <a:rPr lang="zh-CN" altLang="en-US"/>
              <a:t>，光线向法线方向偏折。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02170" y="744855"/>
            <a:ext cx="415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人眼成像原理（视觉错觉根源）</a:t>
            </a:r>
            <a:endParaRPr lang="zh-CN" altLang="en-US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7202170" y="1342390"/>
            <a:ext cx="42583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人眼总是默认光沿直线传播。当水中物体（如吸管下端）反射的光线从水进入空气时发生折射，人眼会沿着折射光线的反向延长线去判断位置，导致看到的虚像位置比实际位置更浅、更高，造成</a:t>
            </a:r>
            <a:r>
              <a:rPr lang="en-US" altLang="zh-CN"/>
              <a:t>“</a:t>
            </a:r>
            <a:r>
              <a:rPr lang="zh-CN" altLang="en-US"/>
              <a:t>折断</a:t>
            </a:r>
            <a:r>
              <a:rPr lang="en-US" altLang="zh-CN"/>
              <a:t>”</a:t>
            </a:r>
            <a:r>
              <a:rPr lang="zh-CN" altLang="en-US"/>
              <a:t>错觉。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02170" y="744855"/>
            <a:ext cx="415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全反射的临界条件</a:t>
            </a:r>
            <a:endParaRPr lang="zh-CN" altLang="en-US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7202170" y="1342390"/>
            <a:ext cx="42583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若从水下往上看（如潜水时），当视角大于临界角（约</a:t>
            </a:r>
            <a:r>
              <a:rPr lang="en-US" altLang="zh-CN"/>
              <a:t>48.8</a:t>
            </a:r>
            <a:r>
              <a:rPr lang="" altLang="en-US"/>
              <a:t>°</a:t>
            </a:r>
            <a:r>
              <a:rPr lang="zh-CN" altLang="en-US"/>
              <a:t>），水面会像镜子一样反射水下景物</a:t>
            </a:r>
            <a:r>
              <a:rPr lang="en-US" altLang="zh-CN"/>
              <a:t>——</a:t>
            </a:r>
            <a:r>
              <a:rPr lang="zh-CN" altLang="en-US"/>
              <a:t>这是全反射现象，也由折射定律推导而来。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02170" y="744855"/>
            <a:ext cx="4150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折射率与光速关系（微观理解）</a:t>
            </a:r>
            <a:endParaRPr lang="zh-CN" altLang="en-US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7202170" y="1342390"/>
            <a:ext cx="42583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折射本质是光在不同介质中传播速度不同（</a:t>
            </a:r>
            <a:r>
              <a:rPr lang="en-US" altLang="zh-CN"/>
              <a:t> v = c n</a:t>
            </a:r>
            <a:r>
              <a:rPr lang="zh-CN" altLang="en-US"/>
              <a:t>）。光在水中速度变慢，导致波前方向改变，宏观表现为路径偏折</a:t>
            </a:r>
            <a:r>
              <a:rPr lang="en-US" altLang="zh-CN"/>
              <a:t>——</a:t>
            </a:r>
            <a:r>
              <a:rPr lang="zh-CN" altLang="en-US"/>
              <a:t>这为后续学习波动光学埋下伏笔。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WPS 演示</Application>
  <PresentationFormat>宽屏</PresentationFormat>
  <Paragraphs>18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PingFang SC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冰之</cp:lastModifiedBy>
  <cp:revision>161</cp:revision>
  <dcterms:created xsi:type="dcterms:W3CDTF">2019-06-19T02:08:00Z</dcterms:created>
  <dcterms:modified xsi:type="dcterms:W3CDTF">2026-02-28T08:56:53Z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4A1157B75E964F3CA0A7362430656C27_11</vt:lpwstr>
  </property>
</Properties>
</file>